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INDIA CPI</a:t>
            </a:r>
          </a:p>
          <a:p>
            <a:pPr>
              <a:defRPr sz="4000" b="1">
                <a:solidFill>
                  <a:srgbClr val="2AA9A8"/>
                </a:solidFill>
              </a:defRPr>
            </a:pPr>
            <a:r>
              <a:t>INFLATION ANALYTICS</a:t>
            </a:r>
          </a:p>
          <a:p>
            <a:pPr>
              <a:defRPr sz="1500">
                <a:solidFill>
                  <a:srgbClr val="CDD7DE"/>
                </a:solidFill>
              </a:defRPr>
            </a:pPr>
            <a:r>
              <a:t>Professional analytical presentation | 2013 – May 2023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3977639"/>
            <a:ext cx="7132320" cy="658368"/>
          </a:xfrm>
          <a:prstGeom prst="round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CPI TRENDS  •  FOOD INFLATION  •  COVID IMPACT  •  IMPORTED OIL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5074920"/>
            <a:ext cx="2423160" cy="594360"/>
          </a:xfrm>
          <a:prstGeom prst="roundRect">
            <a:avLst/>
          </a:prstGeom>
          <a:solidFill>
            <a:srgbClr val="2AA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2013 – MAY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503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Executive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73736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CDE1E1"/>
                </a:solidFill>
              </a:defRPr>
            </a:pPr>
            <a:r>
              <a:t>ONE-PAGE 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60120"/>
            <a:ext cx="2514600" cy="1143000"/>
          </a:xfrm>
          <a:prstGeom prst="roundRect">
            <a:avLst/>
          </a:prstGeom>
          <a:solidFill>
            <a:srgbClr val="F4F7F9"/>
          </a:solidFill>
          <a:ln w="15240">
            <a:solidFill>
              <a:srgbClr val="2AA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900" b="1">
                <a:solidFill>
                  <a:srgbClr val="69737D"/>
                </a:solidFill>
              </a:defRPr>
            </a:pPr>
            <a:r>
              <a:t>LATEST YOY CPI</a:t>
            </a:r>
          </a:p>
          <a:p>
            <a:pPr algn="ctr">
              <a:defRPr sz="2200" b="1">
                <a:solidFill>
                  <a:srgbClr val="232D37"/>
                </a:solidFill>
              </a:defRPr>
            </a:pPr>
            <a:r>
              <a:t>6.46%</a:t>
            </a:r>
          </a:p>
          <a:p>
            <a:pPr algn="ctr">
              <a:defRPr sz="750">
                <a:solidFill>
                  <a:srgbClr val="69737D"/>
                </a:solidFill>
              </a:defRPr>
            </a:pPr>
            <a:r>
              <a:t>May 2023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960120"/>
            <a:ext cx="2514600" cy="1143000"/>
          </a:xfrm>
          <a:prstGeom prst="roundRect">
            <a:avLst/>
          </a:prstGeom>
          <a:solidFill>
            <a:srgbClr val="F4F7F9"/>
          </a:solidFill>
          <a:ln w="15240">
            <a:solidFill>
              <a:srgbClr val="2AA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900" b="1">
                <a:solidFill>
                  <a:srgbClr val="69737D"/>
                </a:solidFill>
              </a:defRPr>
            </a:pPr>
            <a:r>
              <a:t>PEAK YOY CPI</a:t>
            </a:r>
          </a:p>
          <a:p>
            <a:pPr algn="ctr">
              <a:defRPr sz="2200" b="1">
                <a:solidFill>
                  <a:srgbClr val="232D37"/>
                </a:solidFill>
              </a:defRPr>
            </a:pPr>
            <a:r>
              <a:t>7.57%</a:t>
            </a:r>
          </a:p>
          <a:p>
            <a:pPr algn="ctr">
              <a:defRPr sz="750">
                <a:solidFill>
                  <a:srgbClr val="69737D"/>
                </a:solidFill>
              </a:defRPr>
            </a:pPr>
            <a:r>
              <a:t>2020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960120"/>
            <a:ext cx="2514600" cy="1143000"/>
          </a:xfrm>
          <a:prstGeom prst="roundRect">
            <a:avLst/>
          </a:prstGeom>
          <a:solidFill>
            <a:srgbClr val="F4F7F9"/>
          </a:solidFill>
          <a:ln w="15240">
            <a:solidFill>
              <a:srgbClr val="2AA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900" b="1">
                <a:solidFill>
                  <a:srgbClr val="69737D"/>
                </a:solidFill>
              </a:defRPr>
            </a:pPr>
            <a:r>
              <a:t>FOOD 12M HIGH</a:t>
            </a:r>
          </a:p>
          <a:p>
            <a:pPr algn="ctr">
              <a:defRPr sz="2200" b="1">
                <a:solidFill>
                  <a:srgbClr val="232D37"/>
                </a:solidFill>
              </a:defRPr>
            </a:pPr>
            <a:r>
              <a:t>16.34%</a:t>
            </a:r>
          </a:p>
          <a:p>
            <a:pPr algn="ctr">
              <a:defRPr sz="750">
                <a:solidFill>
                  <a:srgbClr val="69737D"/>
                </a:solidFill>
              </a:defRPr>
            </a:pPr>
            <a:r>
              <a:t>Spices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960120"/>
            <a:ext cx="2514600" cy="1143000"/>
          </a:xfrm>
          <a:prstGeom prst="roundRect">
            <a:avLst/>
          </a:prstGeom>
          <a:solidFill>
            <a:srgbClr val="F4F7F9"/>
          </a:solidFill>
          <a:ln w="15240">
            <a:solidFill>
              <a:srgbClr val="2AA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900" b="1">
                <a:solidFill>
                  <a:srgbClr val="69737D"/>
                </a:solidFill>
              </a:defRPr>
            </a:pPr>
            <a:r>
              <a:t>STRONGEST OIL–CPI LINK</a:t>
            </a:r>
          </a:p>
          <a:p>
            <a:pPr algn="ctr">
              <a:defRPr sz="2200" b="1">
                <a:solidFill>
                  <a:srgbClr val="232D37"/>
                </a:solidFill>
              </a:defRPr>
            </a:pPr>
            <a:r>
              <a:t>−0.482</a:t>
            </a:r>
          </a:p>
          <a:p>
            <a:pPr algn="ctr">
              <a:defRPr sz="750">
                <a:solidFill>
                  <a:srgbClr val="69737D"/>
                </a:solidFill>
              </a:defRPr>
            </a:pPr>
            <a:r>
              <a:t>Milk &amp; products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68880"/>
            <a:ext cx="3429000" cy="141732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2AA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sz="1050" b="1">
                <a:solidFill>
                  <a:srgbClr val="123B5D"/>
                </a:solidFill>
              </a:defRPr>
            </a:pPr>
            <a:r>
              <a:t>01  PRICE PRESSURE</a:t>
            </a:r>
          </a:p>
          <a:p>
            <a:pPr>
              <a:defRPr sz="869">
                <a:solidFill>
                  <a:srgbClr val="232D37"/>
                </a:solidFill>
              </a:defRPr>
            </a:pPr>
            <a:r>
              <a:t>Inflation peaked in 2020 at 7.57% in the available annual YoY analysis, while 2023 is a partial Jan–May period.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87952" y="2468880"/>
            <a:ext cx="3429000" cy="141732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4F8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sz="1050" b="1">
                <a:solidFill>
                  <a:srgbClr val="123B5D"/>
                </a:solidFill>
              </a:defRPr>
            </a:pPr>
            <a:r>
              <a:t>02  FOOD DIVERGENCE</a:t>
            </a:r>
          </a:p>
          <a:p>
            <a:pPr>
              <a:defRPr sz="869">
                <a:solidFill>
                  <a:srgbClr val="232D37"/>
                </a:solidFill>
              </a:defRPr>
            </a:pPr>
            <a:r>
              <a:t>Food categories moved in different directions: Spices rose strongly, while Oils and fats and Vegetables recorded negative 12-month changes.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468880"/>
            <a:ext cx="3429000" cy="141732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sz="1050" b="1">
                <a:solidFill>
                  <a:srgbClr val="123B5D"/>
                </a:solidFill>
              </a:defRPr>
            </a:pPr>
            <a:r>
              <a:t>03  SHOCK RESPONSE</a:t>
            </a:r>
          </a:p>
          <a:p>
            <a:pPr>
              <a:defRPr sz="869">
                <a:solidFill>
                  <a:srgbClr val="232D37"/>
                </a:solidFill>
              </a:defRPr>
            </a:pPr>
            <a:r>
              <a:t>COVID effects were mixed across categories, and imported-oil movements showed different associations across the CPI basket.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297680"/>
            <a:ext cx="10607040" cy="566928"/>
          </a:xfrm>
          <a:prstGeom prst="round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The presentation focuses on what the data says — not on formula mechanics.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166360"/>
            <a:ext cx="5074920" cy="86868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2AA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sz="1050" b="1">
                <a:solidFill>
                  <a:srgbClr val="123B5D"/>
                </a:solidFill>
              </a:defRPr>
            </a:pPr>
            <a:r>
              <a:t>Project scope</a:t>
            </a:r>
          </a:p>
          <a:p>
            <a:pPr>
              <a:defRPr sz="869">
                <a:solidFill>
                  <a:srgbClr val="232D37"/>
                </a:solidFill>
              </a:defRPr>
            </a:pPr>
            <a:r>
              <a:t>Five analytical questions covering latest CPI contribution, YoY trend, food inflation, COVID impact and imported oil.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70448" y="5166360"/>
            <a:ext cx="5330952" cy="86868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6A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sz="1050" b="1">
                <a:solidFill>
                  <a:srgbClr val="123B5D"/>
                </a:solidFill>
              </a:defRPr>
            </a:pPr>
            <a:r>
              <a:t>Interpretation note</a:t>
            </a:r>
          </a:p>
          <a:p>
            <a:pPr>
              <a:defRPr sz="869">
                <a:solidFill>
                  <a:srgbClr val="232D37"/>
                </a:solidFill>
              </a:defRPr>
            </a:pPr>
            <a:r>
              <a:t>Q1 shares are normalized analytical shares; Q4 Essential Services is an analytical unweighted composite; Q5 correlation indicates association, not causation.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9737D"/>
                </a:solidFill>
              </a:defRPr>
            </a:pPr>
            <a:r>
              <a:t>CPI project workbook • Data available through May 2023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503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01  Latest CPI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73736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CDE1E1"/>
                </a:solidFill>
              </a:defRPr>
            </a:pPr>
            <a:r>
              <a:t>MAY 2023</a:t>
            </a:r>
          </a:p>
        </p:txBody>
      </p:sp>
      <p:pic>
        <p:nvPicPr>
          <p:cNvPr id="6" name="Picture 5" descr="q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6858000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051560"/>
            <a:ext cx="3977639" cy="11430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2AA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sz="1050" b="1">
                <a:solidFill>
                  <a:srgbClr val="123B5D"/>
                </a:solidFill>
              </a:defRPr>
            </a:pPr>
            <a:r>
              <a:t>Highest normalized category</a:t>
            </a:r>
          </a:p>
          <a:p>
            <a:pPr>
              <a:defRPr sz="869">
                <a:solidFill>
                  <a:srgbClr val="232D37"/>
                </a:solidFill>
              </a:defRPr>
            </a:pPr>
            <a:r>
              <a:t>Pan, Tobacco &amp; Intoxicants recorded the highest normalized analytical share at 9.34%.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423160"/>
            <a:ext cx="3977639" cy="11430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69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sz="1050" b="1">
                <a:solidFill>
                  <a:srgbClr val="123B5D"/>
                </a:solidFill>
              </a:defRPr>
            </a:pPr>
            <a:r>
              <a:t>Lowest normalized category</a:t>
            </a:r>
          </a:p>
          <a:p>
            <a:pPr>
              <a:defRPr sz="869">
                <a:solidFill>
                  <a:srgbClr val="232D37"/>
                </a:solidFill>
              </a:defRPr>
            </a:pPr>
            <a:r>
              <a:t>Transport &amp; Communication recorded the lowest normalized analytical share at 7.64%.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3794760"/>
            <a:ext cx="3977639" cy="132588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6A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sz="1050" b="1">
                <a:solidFill>
                  <a:srgbClr val="123B5D"/>
                </a:solidFill>
              </a:defRPr>
            </a:pPr>
            <a:r>
              <a:t>How to read this</a:t>
            </a:r>
          </a:p>
          <a:p>
            <a:pPr>
              <a:defRPr sz="869">
                <a:solidFill>
                  <a:srgbClr val="232D37"/>
                </a:solidFill>
              </a:defRPr>
            </a:pPr>
            <a:r>
              <a:t>These are normalized analytical shares across the selected broad categories, not official CPI expenditure weights.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9737D"/>
                </a:solidFill>
              </a:defRPr>
            </a:pPr>
            <a:r>
              <a:t>CPI project workbook • Data available through May 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503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02  YoY CPI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73736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CDE1E1"/>
                </a:solidFill>
              </a:defRPr>
            </a:pPr>
            <a:r>
              <a:t>2017 – MAY 2023</a:t>
            </a:r>
          </a:p>
        </p:txBody>
      </p:sp>
      <p:pic>
        <p:nvPicPr>
          <p:cNvPr id="6" name="Picture 5" descr="q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6858000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051560"/>
            <a:ext cx="3977639" cy="11430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sz="1050" b="1">
                <a:solidFill>
                  <a:srgbClr val="123B5D"/>
                </a:solidFill>
              </a:defRPr>
            </a:pPr>
            <a:r>
              <a:t>Peak year</a:t>
            </a:r>
          </a:p>
          <a:p>
            <a:pPr>
              <a:defRPr sz="869">
                <a:solidFill>
                  <a:srgbClr val="232D37"/>
                </a:solidFill>
              </a:defRPr>
            </a:pPr>
            <a:r>
              <a:t>2020 recorded the highest annual YoY CPI value in this project table at 7.57%.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423160"/>
            <a:ext cx="3977639" cy="11430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2AA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sz="1050" b="1">
                <a:solidFill>
                  <a:srgbClr val="123B5D"/>
                </a:solidFill>
              </a:defRPr>
            </a:pPr>
            <a:r>
              <a:t>2023 context</a:t>
            </a:r>
          </a:p>
          <a:p>
            <a:pPr>
              <a:defRPr sz="869">
                <a:solidFill>
                  <a:srgbClr val="232D37"/>
                </a:solidFill>
              </a:defRPr>
            </a:pPr>
            <a:r>
              <a:t>The 2023 value of 6.46% represents the available Jan–May period, not a full year.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3794760"/>
            <a:ext cx="3977639" cy="132588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6A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sz="1050" b="1">
                <a:solidFill>
                  <a:srgbClr val="123B5D"/>
                </a:solidFill>
              </a:defRPr>
            </a:pPr>
            <a:r>
              <a:t>Trend story</a:t>
            </a:r>
          </a:p>
          <a:p>
            <a:pPr>
              <a:defRPr sz="869">
                <a:solidFill>
                  <a:srgbClr val="232D37"/>
                </a:solidFill>
              </a:defRPr>
            </a:pPr>
            <a:r>
              <a:t>Inflation rose sharply into 2020, eased in 2021, then moved higher again in the available 2022–May 2023 period.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9737D"/>
                </a:solidFill>
              </a:defRPr>
            </a:pPr>
            <a:r>
              <a:t>CPI project workbook • Data available through May 2023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503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03  Food Inflation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73736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CDE1E1"/>
                </a:solidFill>
              </a:defRPr>
            </a:pPr>
            <a:r>
              <a:t>12-MONTH PERIOD ENDING MAY 2023</a:t>
            </a:r>
          </a:p>
        </p:txBody>
      </p:sp>
      <p:pic>
        <p:nvPicPr>
          <p:cNvPr id="6" name="Picture 5" descr="q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5486400" cy="2743200"/>
          </a:xfrm>
          <a:prstGeom prst="rect">
            <a:avLst/>
          </a:prstGeom>
        </p:spPr>
      </p:pic>
      <p:pic>
        <p:nvPicPr>
          <p:cNvPr id="7" name="Picture 6" descr="q3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914400"/>
            <a:ext cx="5532120" cy="2743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3886200"/>
            <a:ext cx="3429000" cy="132588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2AA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sz="1050" b="1">
                <a:solidFill>
                  <a:srgbClr val="123B5D"/>
                </a:solidFill>
              </a:defRPr>
            </a:pPr>
            <a:r>
              <a:t>Food trend</a:t>
            </a:r>
          </a:p>
          <a:p>
            <a:pPr>
              <a:defRPr sz="869">
                <a:solidFill>
                  <a:srgbClr val="232D37"/>
                </a:solidFill>
              </a:defRPr>
            </a:pPr>
            <a:r>
              <a:t>Food CPI moved from 175.53 in Jun 2022 to 179.67 in May 2023, with the highest index level at 180.10 in Oct 2022.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886200"/>
            <a:ext cx="3429000" cy="132588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4F8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sz="1050" b="1">
                <a:solidFill>
                  <a:srgbClr val="123B5D"/>
                </a:solidFill>
              </a:defRPr>
            </a:pPr>
            <a:r>
              <a:t>Largest positive move</a:t>
            </a:r>
          </a:p>
          <a:p>
            <a:pPr>
              <a:defRPr sz="869">
                <a:solidFill>
                  <a:srgbClr val="232D37"/>
                </a:solidFill>
              </a:defRPr>
            </a:pPr>
            <a:r>
              <a:t>Spices recorded the largest positive 12-month change at +30.47 index points, equal to +16.34%.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3886200"/>
            <a:ext cx="3429000" cy="132588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sz="1050" b="1">
                <a:solidFill>
                  <a:srgbClr val="123B5D"/>
                </a:solidFill>
              </a:defRPr>
            </a:pPr>
            <a:r>
              <a:t>Largest negative move</a:t>
            </a:r>
          </a:p>
          <a:p>
            <a:pPr>
              <a:defRPr sz="869">
                <a:solidFill>
                  <a:srgbClr val="232D37"/>
                </a:solidFill>
              </a:defRPr>
            </a:pPr>
            <a:r>
              <a:t>Oils and fats recorded the largest negative 12-month change at −29.97 index points, equal to −15.04%.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9737D"/>
                </a:solidFill>
              </a:defRPr>
            </a:pPr>
            <a:r>
              <a:t>CPI project workbook • Data available through May 2023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503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04  COVID-19 Impact on Inflation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73736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CDE1E1"/>
                </a:solidFill>
              </a:defRPr>
            </a:pPr>
            <a:r>
              <a:t>2020</a:t>
            </a:r>
          </a:p>
        </p:txBody>
      </p:sp>
      <p:pic>
        <p:nvPicPr>
          <p:cNvPr id="6" name="Picture 5" descr="q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6903720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051560"/>
            <a:ext cx="3977639" cy="11430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sz="1050" b="1">
                <a:solidFill>
                  <a:srgbClr val="123B5D"/>
                </a:solidFill>
              </a:defRPr>
            </a:pPr>
            <a:r>
              <a:t>Feb → Mar 2020</a:t>
            </a:r>
          </a:p>
          <a:p>
            <a:pPr>
              <a:defRPr sz="869">
                <a:solidFill>
                  <a:srgbClr val="232D37"/>
                </a:solidFill>
              </a:defRPr>
            </a:pPr>
            <a:r>
              <a:t>Overall CPI fell 0.76 pp; Food fell 1.76 pp; Healthcare changed −0.04 pp; Essential Services fell 0.18 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468880"/>
            <a:ext cx="3977639" cy="123444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4F8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sz="1050" b="1">
                <a:solidFill>
                  <a:srgbClr val="123B5D"/>
                </a:solidFill>
              </a:defRPr>
            </a:pPr>
            <a:r>
              <a:t>Mar → Jun 2020</a:t>
            </a:r>
          </a:p>
          <a:p>
            <a:pPr>
              <a:defRPr sz="869">
                <a:solidFill>
                  <a:srgbClr val="232D37"/>
                </a:solidFill>
              </a:defRPr>
            </a:pPr>
            <a:r>
              <a:t>Overall CPI rose 0.39 pp; Healthcare rose 0.67 pp; Food rose 0.16 pp; Essential Services fell 0.50 pp.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3977639"/>
            <a:ext cx="3977639" cy="123444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6A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sz="1050" b="1">
                <a:solidFill>
                  <a:srgbClr val="123B5D"/>
                </a:solidFill>
              </a:defRPr>
            </a:pPr>
            <a:r>
              <a:t>Key interpretation</a:t>
            </a:r>
          </a:p>
          <a:p>
            <a:pPr>
              <a:defRPr sz="869">
                <a:solidFill>
                  <a:srgbClr val="232D37"/>
                </a:solidFill>
              </a:defRPr>
            </a:pPr>
            <a:r>
              <a:t>The inflation response was not uniform across categories during the COVID period.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9737D"/>
                </a:solidFill>
              </a:defRPr>
            </a:pPr>
            <a:r>
              <a:t>Source: Q4 COVID impact analysis • Changes shown in percentage points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503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05  Imported Oil &amp; CPI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73736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CDE1E1"/>
                </a:solidFill>
              </a:defRPr>
            </a:pPr>
            <a:r>
              <a:t>2021 – MAY 2023</a:t>
            </a:r>
          </a:p>
        </p:txBody>
      </p:sp>
      <p:pic>
        <p:nvPicPr>
          <p:cNvPr id="6" name="Picture 5" descr="q5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5486400" cy="2880360"/>
          </a:xfrm>
          <a:prstGeom prst="rect">
            <a:avLst/>
          </a:prstGeom>
        </p:spPr>
      </p:pic>
      <p:pic>
        <p:nvPicPr>
          <p:cNvPr id="7" name="Picture 6" descr="q5co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914400"/>
            <a:ext cx="5532120" cy="2880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4069080"/>
            <a:ext cx="3429000" cy="123444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2AA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sz="1050" b="1">
                <a:solidFill>
                  <a:srgbClr val="123B5D"/>
                </a:solidFill>
              </a:defRPr>
            </a:pPr>
            <a:r>
              <a:t>Strongest observed link</a:t>
            </a:r>
          </a:p>
          <a:p>
            <a:pPr>
              <a:defRPr sz="869">
                <a:solidFill>
                  <a:srgbClr val="232D37"/>
                </a:solidFill>
              </a:defRPr>
            </a:pPr>
            <a:r>
              <a:t>Milk &amp; products had the strongest observed correlation with imported-oil MoM changes: −0.482.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069080"/>
            <a:ext cx="3429000" cy="123444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sz="1050" b="1">
                <a:solidFill>
                  <a:srgbClr val="123B5D"/>
                </a:solidFill>
              </a:defRPr>
            </a:pPr>
            <a:r>
              <a:t>Other notable relationships</a:t>
            </a:r>
          </a:p>
          <a:p>
            <a:pPr>
              <a:defRPr sz="869">
                <a:solidFill>
                  <a:srgbClr val="232D37"/>
                </a:solidFill>
              </a:defRPr>
            </a:pPr>
            <a:r>
              <a:t>Education (−0.449), Food &amp; beverages (−0.363) and Vegetables (−0.356) also showed relatively stronger negative associations.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4069080"/>
            <a:ext cx="3429000" cy="123444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6A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sz="1050" b="1">
                <a:solidFill>
                  <a:srgbClr val="123B5D"/>
                </a:solidFill>
              </a:defRPr>
            </a:pPr>
            <a:r>
              <a:t>Interpretation</a:t>
            </a:r>
          </a:p>
          <a:p>
            <a:pPr>
              <a:defRPr sz="869">
                <a:solidFill>
                  <a:srgbClr val="232D37"/>
                </a:solidFill>
              </a:defRPr>
            </a:pPr>
            <a:r>
              <a:t>Oil-price movements were associated differently across categories; correlation alone does not establish causation.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9737D"/>
                </a:solidFill>
              </a:defRPr>
            </a:pPr>
            <a:r>
              <a:t>Source: PPAC Indian Basket crude oil prices + CPI project data • Common comparison period through May 2023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503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73736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CDE1E1"/>
                </a:solidFill>
              </a:defRPr>
            </a:pPr>
            <a:r>
              <a:t>WHAT THE ANALYSIS TELLS 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60120"/>
            <a:ext cx="3429000" cy="13716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2AA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sz="1050" b="1">
                <a:solidFill>
                  <a:srgbClr val="123B5D"/>
                </a:solidFill>
              </a:defRPr>
            </a:pPr>
            <a:r>
              <a:t>01  Inflation cycle</a:t>
            </a:r>
          </a:p>
          <a:p>
            <a:pPr>
              <a:defRPr sz="869">
                <a:solidFill>
                  <a:srgbClr val="232D37"/>
                </a:solidFill>
              </a:defRPr>
            </a:pPr>
            <a:r>
              <a:t>The project data shows a clear inflation surge into 2020, followed by easing and renewed pressure in the later available period.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87952" y="960120"/>
            <a:ext cx="3429000" cy="13716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4F8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sz="1050" b="1">
                <a:solidFill>
                  <a:srgbClr val="123B5D"/>
                </a:solidFill>
              </a:defRPr>
            </a:pPr>
            <a:r>
              <a:t>02  Food is uneven</a:t>
            </a:r>
          </a:p>
          <a:p>
            <a:pPr>
              <a:defRPr sz="869">
                <a:solidFill>
                  <a:srgbClr val="232D37"/>
                </a:solidFill>
              </a:defRPr>
            </a:pPr>
            <a:r>
              <a:t>Food inflation was not a single-direction story: individual categories diverged sharply over the 12 months ending May 2023.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960120"/>
            <a:ext cx="3429000" cy="13716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sz="1050" b="1">
                <a:solidFill>
                  <a:srgbClr val="123B5D"/>
                </a:solidFill>
              </a:defRPr>
            </a:pPr>
            <a:r>
              <a:t>03  COVID was uneven</a:t>
            </a:r>
          </a:p>
          <a:p>
            <a:pPr>
              <a:defRPr sz="869">
                <a:solidFill>
                  <a:srgbClr val="232D37"/>
                </a:solidFill>
              </a:defRPr>
            </a:pPr>
            <a:r>
              <a:t>The selected inflation measures moved differently between the March 2020 onset and June 2020.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606040"/>
            <a:ext cx="3429000" cy="13716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6A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sz="1050" b="1">
                <a:solidFill>
                  <a:srgbClr val="123B5D"/>
                </a:solidFill>
              </a:defRPr>
            </a:pPr>
            <a:r>
              <a:t>04  Oil transmission varies</a:t>
            </a:r>
          </a:p>
          <a:p>
            <a:pPr>
              <a:defRPr sz="869">
                <a:solidFill>
                  <a:srgbClr val="232D37"/>
                </a:solidFill>
              </a:defRPr>
            </a:pPr>
            <a:r>
              <a:t>Imported-oil changes did not show one uniform relationship across the CPI basket.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87952" y="2606040"/>
            <a:ext cx="3429000" cy="13716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2AA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sz="1050" b="1">
                <a:solidFill>
                  <a:srgbClr val="123B5D"/>
                </a:solidFill>
              </a:defRPr>
            </a:pPr>
            <a:r>
              <a:t>05  Strongest observed association</a:t>
            </a:r>
          </a:p>
          <a:p>
            <a:pPr>
              <a:defRPr sz="869">
                <a:solidFill>
                  <a:srgbClr val="232D37"/>
                </a:solidFill>
              </a:defRPr>
            </a:pPr>
            <a:r>
              <a:t>Milk &amp; products had the largest absolute correlation in the project analysis at 0.482.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606040"/>
            <a:ext cx="3429000" cy="13716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sz="1050" b="1">
                <a:solidFill>
                  <a:srgbClr val="123B5D"/>
                </a:solidFill>
              </a:defRPr>
            </a:pPr>
            <a:r>
              <a:t>06  Latest position</a:t>
            </a:r>
          </a:p>
          <a:p>
            <a:pPr>
              <a:defRPr sz="869">
                <a:solidFill>
                  <a:srgbClr val="232D37"/>
                </a:solidFill>
              </a:defRPr>
            </a:pPr>
            <a:r>
              <a:t>The latest available YoY CPI value in the project is 6.46% for May 2023.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434840"/>
            <a:ext cx="10607040" cy="685800"/>
          </a:xfrm>
          <a:prstGeom prst="round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Bottom line: inflation is multi-dimensional — category mix, shocks and external price movements can behave differently over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5440680"/>
            <a:ext cx="10607040" cy="658368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sz="1050" b="1">
                <a:solidFill>
                  <a:srgbClr val="123B5D"/>
                </a:solidFill>
              </a:defRPr>
            </a:pPr>
            <a:r>
              <a:t>Decision-ready view</a:t>
            </a:r>
          </a:p>
          <a:p>
            <a:pPr>
              <a:defRPr sz="869">
                <a:solidFill>
                  <a:srgbClr val="232D37"/>
                </a:solidFill>
              </a:defRPr>
            </a:pPr>
            <a:r>
              <a:t>Use the charts to explain the movement, and the insights to explain the story behind the movement.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9737D"/>
                </a:solidFill>
              </a:defRPr>
            </a:pPr>
            <a:r>
              <a:t>CPI project workbook • Data available through May 2023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503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Scope &amp; Interpretation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73736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CDE1E1"/>
                </a:solidFill>
              </a:defRPr>
            </a:pPr>
            <a:r>
              <a:t>READ THIS BEFORE USING THE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60120"/>
            <a:ext cx="5120640" cy="132588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2AA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sz="1050" b="1">
                <a:solidFill>
                  <a:srgbClr val="123B5D"/>
                </a:solidFill>
              </a:defRPr>
            </a:pPr>
            <a:r>
              <a:t>Q1 — Latest-month contribution</a:t>
            </a:r>
          </a:p>
          <a:p>
            <a:pPr>
              <a:defRPr sz="869">
                <a:solidFill>
                  <a:srgbClr val="232D37"/>
                </a:solidFill>
              </a:defRPr>
            </a:pPr>
            <a:r>
              <a:t>May 2023 broad-category values are normalized across the selected categories for analytical comparison; they are not official CPI expenditure weights.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960120"/>
            <a:ext cx="5303520" cy="132588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4F8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sz="1050" b="1">
                <a:solidFill>
                  <a:srgbClr val="123B5D"/>
                </a:solidFill>
              </a:defRPr>
            </a:pPr>
            <a:r>
              <a:t>Q2 — YoY trend</a:t>
            </a:r>
          </a:p>
          <a:p>
            <a:pPr>
              <a:defRPr sz="869">
                <a:solidFill>
                  <a:srgbClr val="232D37"/>
                </a:solidFill>
              </a:defRPr>
            </a:pPr>
            <a:r>
              <a:t>2023 is partial through May. Annual values should therefore be interpreted with the available period in mind.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560320"/>
            <a:ext cx="5120640" cy="132588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sz="1050" b="1">
                <a:solidFill>
                  <a:srgbClr val="123B5D"/>
                </a:solidFill>
              </a:defRPr>
            </a:pPr>
            <a:r>
              <a:t>Q4 — Essential Services</a:t>
            </a:r>
          </a:p>
          <a:p>
            <a:pPr>
              <a:defRPr sz="869">
                <a:solidFill>
                  <a:srgbClr val="232D37"/>
                </a:solidFill>
              </a:defRPr>
            </a:pPr>
            <a:r>
              <a:t>Essential Services is an analytical unweighted composite of selected service-related CPI categories used for this project.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2560320"/>
            <a:ext cx="5303520" cy="132588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6A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sz="1050" b="1">
                <a:solidFill>
                  <a:srgbClr val="123B5D"/>
                </a:solidFill>
              </a:defRPr>
            </a:pPr>
            <a:r>
              <a:t>Q5 — Imported oil</a:t>
            </a:r>
          </a:p>
          <a:p>
            <a:pPr>
              <a:defRPr sz="869">
                <a:solidFill>
                  <a:srgbClr val="232D37"/>
                </a:solidFill>
              </a:defRPr>
            </a:pPr>
            <a:r>
              <a:t>Oil analysis uses Indian Basket crude-oil monthly movements and compares them with CPI monthly movements through the common period available in the project.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160520"/>
            <a:ext cx="10607040" cy="114300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sz="1050" b="1">
                <a:solidFill>
                  <a:srgbClr val="123B5D"/>
                </a:solidFill>
              </a:defRPr>
            </a:pPr>
            <a:r>
              <a:t>Correlation caveat</a:t>
            </a:r>
          </a:p>
          <a:p>
            <a:pPr>
              <a:defRPr sz="869">
                <a:solidFill>
                  <a:srgbClr val="232D37"/>
                </a:solidFill>
              </a:defRPr>
            </a:pPr>
            <a:r>
              <a:t>A correlation describes linear association in the study period. It does not by itself prove that imported-oil movements caused changes in a CPI category.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577840"/>
            <a:ext cx="10607040" cy="502920"/>
          </a:xfrm>
          <a:prstGeom prst="round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Prepared from the CPI project workbook • Analysis period: 2013–May 2023 • Oil comparison: 2021–May 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9737D"/>
                </a:solidFill>
              </a:defRPr>
            </a:pPr>
            <a:r>
              <a:t>CPI project workbook • Data available through May 2023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